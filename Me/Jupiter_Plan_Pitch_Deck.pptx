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B8963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5029200"/>
            <a:ext cx="4873752" cy="1828800"/>
          </a:xfrm>
          <a:prstGeom prst="rect">
            <a:avLst/>
          </a:prstGeom>
          <a:solidFill>
            <a:srgbClr val="C4622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097280"/>
            <a:ext cx="822960" cy="8229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Jupiter_Plan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Financier des PME Africaines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2743200" cy="4572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Associés · Mars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PME africaines gèrent leurs finances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le noir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5661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3566160" cy="73152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fragmenté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département a son propre fichier. Consolidation manuelle, erreurs fréquentes, aucune vision globale.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286000"/>
            <a:ext cx="35661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286000"/>
            <a:ext cx="3566160" cy="73152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retard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3520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dirigeants reçoivent les chiffres du mois précédent avec 3 semaines de délai. Impossible de réagir à temps.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6616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286000"/>
            <a:ext cx="3566160" cy="73152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conformité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SYSCOHADA, difficultés avec les banques et les investisseurs lors des levées de fonds.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C4622D">
              <a:alpha val="10000"/>
            </a:srgbClr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des PME africaines citent le "manque de visibilité financière" comme principal obstacle à leur croissance  —  Banque Mondiale 2024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Jupiter_Plan — Un SaaS FP&amp;A conçu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PME d'Afrique de l'Ouest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011680"/>
            <a:ext cx="54864" cy="173736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Budget &amp; Prévisionnel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comptable SYSCOHADA natif. Workflow d'approbation complet. Budget vs Réel en temps réel.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011680"/>
            <a:ext cx="54864" cy="1737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Dashboard KPIs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EBITDA, Marge, Runway. Alertes automatiques. Personnalisable par rôle.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011680"/>
            <a:ext cx="54864" cy="1737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Cash Flow 13 semaines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trésorerie glissant. Mobile Money (Wave, Orange, MTN). Prévisions de liquidité.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23360"/>
            <a:ext cx="54864" cy="17373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Scénarios &amp; Simulations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Optimiste, pessimiste, stress test. Hypothèses paramétrables. Comparaison multi-scénarios.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402336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4023360"/>
            <a:ext cx="54864" cy="173736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Import Excel / Sage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données existantes. Validation SYSCOHADA automatique. Traitement en masse.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023360"/>
            <a:ext cx="3657600" cy="1737360"/>
          </a:xfrm>
          <a:prstGeom prst="rect">
            <a:avLst>
              <a:gd name="adj" fmla="val 4211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4023360"/>
            <a:ext cx="54864" cy="1737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Multi-rôles &amp; Sécurité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5720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SUPER_ADMIN, FPA, Contributeur, Lecteur, Auditeur. Isolation multi-tenant. Conformité ECOWAS.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CIBLE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marché de 2,4 millions de PME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sous-équipées en Afrique de l'Ouest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517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963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ciblées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UEMOA + Cameroun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517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963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Utilisent Excel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aucun outil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26517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963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addressable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estimé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2103120"/>
            <a:ext cx="265176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8963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1945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3544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annuelle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3544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Afrique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prioritaires 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210312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🇸🇳 Sénégal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4937760"/>
            <a:ext cx="210312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🇨🇮 Côte d'Ivoire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4937760"/>
            <a:ext cx="210312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🇲🇱 Mali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4937760"/>
            <a:ext cx="210312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🇧🇫 Burkina Faso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0" y="4937760"/>
            <a:ext cx="2103120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🇨🇲 Cameroun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CONCURRENTIELS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Jupiter_Plan vs Excel vs Concurrents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2004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645920"/>
            <a:ext cx="228600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6459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Oracle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1645920"/>
            <a:ext cx="2560320" cy="502920"/>
          </a:xfrm>
          <a:prstGeom prst="rect">
            <a:avLst/>
          </a:prstGeom>
          <a:solidFill>
            <a:srgbClr val="1A1A2E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Jupiter_Plan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32004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76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SYSCOHADA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2176272"/>
            <a:ext cx="22860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1762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176272"/>
            <a:ext cx="256032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2176272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0662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mensuel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49040" y="2706624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270662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(mais coût caché)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706624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7066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500k–2M FCFA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78240" y="2706624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70662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50k–150k FCFA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236976"/>
            <a:ext cx="32004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23697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Afrique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3236976"/>
            <a:ext cx="22860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0" y="32369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3236976"/>
            <a:ext cx="256032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778240" y="3236976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3767328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7673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approbation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749040" y="3767328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7673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Manuel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6480" y="3767328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3767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Complexe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778240" y="3767328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37673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32004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297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données locales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749040" y="4297680"/>
            <a:ext cx="22860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0" y="42976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126480" y="4297680"/>
            <a:ext cx="256032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297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Difficile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778240" y="4297680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42976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Excel/Sage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4828032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8280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déploiement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749040" y="4828032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48280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(mais formation)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26480" y="4828032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48280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mois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8778240" y="4828032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48280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semaine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57200" y="5358384"/>
            <a:ext cx="32004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535838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francophone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0" y="5358384"/>
            <a:ext cx="228600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0" y="53583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126480" y="5358384"/>
            <a:ext cx="2560320" cy="502920"/>
          </a:xfrm>
          <a:prstGeom prst="rect">
            <a:avLst/>
          </a:prstGeom>
          <a:solidFill>
            <a:srgbClr val="FAF8F4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17920" y="5358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8778240" y="5358384"/>
            <a:ext cx="2560320" cy="502920"/>
          </a:xfrm>
          <a:prstGeom prst="rect">
            <a:avLst/>
          </a:prstGeom>
          <a:solidFill>
            <a:srgbClr val="EDF5F0"/>
          </a:solidFill>
          <a:ln w="6350">
            <a:solidFill>
              <a:srgbClr val="E8E2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69680" y="5358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Dédié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mensuel — 3 plans adaptés aux PME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4389120"/>
          </a:xfrm>
          <a:prstGeom prst="rect">
            <a:avLst>
              <a:gd name="adj" fmla="val 3243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10–50 employés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2834640" cy="36576"/>
          </a:xfrm>
          <a:prstGeom prst="rect">
            <a:avLst/>
          </a:prstGeom>
          <a:solidFill>
            <a:srgbClr val="E8E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03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utilisateurs max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1788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Budget &amp; KPIs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6542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Import Excel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1297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463040"/>
            <a:ext cx="3383280" cy="4389120"/>
          </a:xfrm>
          <a:prstGeom prst="rect">
            <a:avLst>
              <a:gd name="adj" fmla="val 3243"/>
            </a:avLst>
          </a:prstGeom>
          <a:solidFill>
            <a:srgbClr val="C4622D"/>
          </a:solidFill>
          <a:ln w="25400">
            <a:solidFill>
              <a:srgbClr val="C4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188720"/>
            <a:ext cx="1920240" cy="411480"/>
          </a:xfrm>
          <a:prstGeom prst="rect">
            <a:avLst>
              <a:gd name="adj" fmla="val 22222"/>
            </a:avLst>
          </a:prstGeom>
          <a:solidFill>
            <a:srgbClr val="C4622D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RECOMMANDÉ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100 000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50–200 employés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611880"/>
            <a:ext cx="28346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703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utilisateurs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41788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Tous les modules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6542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Scénarios avancés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51297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prioritaire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1463040"/>
            <a:ext cx="3383280" cy="4389120"/>
          </a:xfrm>
          <a:prstGeom prst="rect">
            <a:avLst>
              <a:gd name="adj" fmla="val 3243"/>
            </a:avLst>
          </a:prstGeom>
          <a:solidFill>
            <a:srgbClr val="FAF8F4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15544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150 000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229600" y="2834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FCFA/mois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200–500 employés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3611880"/>
            <a:ext cx="2834640" cy="36576"/>
          </a:xfrm>
          <a:prstGeom prst="rect">
            <a:avLst/>
          </a:prstGeom>
          <a:solidFill>
            <a:srgbClr val="E8E2D9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3703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Utilisateurs illimités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41788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Multi-entités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6542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+ intégrations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51297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Support dédié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Essai gratuit 30 jours · Pas d'engagement · Annulation à tout moment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Démarrez en moins d'une semaine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63040" y="1554480"/>
            <a:ext cx="640080" cy="6400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40280" y="1874520"/>
            <a:ext cx="1005840" cy="0"/>
          </a:xfrm>
          <a:prstGeom prst="line">
            <a:avLst/>
          </a:prstGeom>
          <a:noFill/>
          <a:ln w="19050">
            <a:solidFill>
              <a:srgbClr val="C4622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65760" y="2331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Config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votre organisation, inviter vos collaborateurs, configurer les départements et l'exercice fiscal.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66360" y="1874520"/>
            <a:ext cx="1005840" cy="0"/>
          </a:xfrm>
          <a:prstGeom prst="line">
            <a:avLst/>
          </a:prstGeom>
          <a:noFill/>
          <a:ln w="19050">
            <a:solidFill>
              <a:srgbClr val="C4622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91840" y="2331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331720"/>
            <a:ext cx="2651760" cy="54864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2–3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Importer vos données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200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votre budget Excel existant, importer vos transactions historiques, connecter votre plan comptable SYSCOHADA.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0" y="1554480"/>
            <a:ext cx="640080" cy="6400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92440" y="1874520"/>
            <a:ext cx="1005840" cy="0"/>
          </a:xfrm>
          <a:prstGeom prst="line">
            <a:avLst/>
          </a:prstGeom>
          <a:noFill/>
          <a:ln w="19050">
            <a:solidFill>
              <a:srgbClr val="C4622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217920" y="2331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 &amp; Valider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3200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département saisit ses données. Le FPA consolide. Le dirigeant approuve via workflow structuré.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241280" y="1554480"/>
            <a:ext cx="640080" cy="6400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0" y="2331720"/>
            <a:ext cx="2651760" cy="2743200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0" y="2331720"/>
            <a:ext cx="2651760" cy="54864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jour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81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en temps réel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81160" y="320040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mis à jour, alertes automatiques, scénarios pour anticiper, rapports pour vos banquiers.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ce dont votre équipe financière a besoin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Workflow DRAFT→APPROVED→LOCKED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Lignes par département SYSCOHADA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Comparaison Budget vs Réel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Commentaires collaboratifs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Transactions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Saisie manuelle rapide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404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Import Excel en masse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par lot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099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Codes SYSCOHADA validés auto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554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Cash Flow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 glissant 13 semaines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404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Comptes bancaires multiples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2752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Entrées/sorties planifiées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099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Runway de trésorerie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Scénarios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types : optimiste/base/pessimiste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690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Hypothèses paramétrables (%)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038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 IS + Bilan + CF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385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Comparaison 4 scénarios max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3840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KPIs &amp; Alertes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CA, EBITDA, Marge, Runway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4690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Seuils d'alerte configurables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26280" y="5038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Alertes CRITICAL / WARN / OK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5385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Historique des valeurs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3840480"/>
            <a:ext cx="3611880" cy="20116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931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Utilisateurs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 rôles distincts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690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Scope département Contributeur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50383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Portail Auditeur séparé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5385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Logs d'audit complets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V1 à la plateforme panafricaine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11880" cy="457200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611880" cy="731520"/>
          </a:xfrm>
          <a:prstGeom prst="rect">
            <a:avLst>
              <a:gd name="adj" fmla="val 12500"/>
            </a:avLst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361188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Maintenant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572768"/>
            <a:ext cx="1097280" cy="320040"/>
          </a:xfrm>
          <a:prstGeom prst="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59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Workflow complet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Import Excel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56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13 semaines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05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&amp; Simulations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Alertes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182880" cy="1828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Multi-rôles &amp; Sécurité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1508760"/>
            <a:ext cx="3611880" cy="457200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1508760"/>
            <a:ext cx="3611880" cy="731520"/>
          </a:xfrm>
          <a:prstGeom prst="rect">
            <a:avLst>
              <a:gd name="adj" fmla="val 12500"/>
            </a:avLst>
          </a:prstGeom>
          <a:solidFill>
            <a:srgbClr val="C4622D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1920240"/>
            <a:ext cx="3611880" cy="320040"/>
          </a:xfrm>
          <a:prstGeom prst="rect">
            <a:avLst/>
          </a:prstGeom>
          <a:solidFill>
            <a:srgbClr val="C4622D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Court terme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20840" y="1572768"/>
            <a:ext cx="1097280" cy="320040"/>
          </a:xfrm>
          <a:prstGeom prst="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26280" y="246888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359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PDF/Excel async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301752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Auditeur dédié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26280" y="356616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456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(iOS/Android)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26280" y="411480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4005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Sage/Wave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6280" y="466344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contributeurs avancé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6280" y="5212080"/>
            <a:ext cx="182880" cy="18288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Multi-devises (XOF/XAF/USD)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1508760"/>
            <a:ext cx="3611880" cy="4572000"/>
          </a:xfrm>
          <a:prstGeom prst="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8E2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1508760"/>
            <a:ext cx="3611880" cy="731520"/>
          </a:xfrm>
          <a:prstGeom prst="rect">
            <a:avLst>
              <a:gd name="adj" fmla="val 12500"/>
            </a:avLst>
          </a:prstGeom>
          <a:solidFill>
            <a:srgbClr val="B8963E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0" y="1920240"/>
            <a:ext cx="3611880" cy="3200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6" name="Text 44"/>
          <p:cNvSpPr/>
          <p:nvPr/>
        </p:nvSpPr>
        <p:spPr>
          <a:xfrm>
            <a:off x="8366760" y="1536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Long terme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0607040" y="1572768"/>
            <a:ext cx="1097280" cy="320040"/>
          </a:xfrm>
          <a:prstGeom prst="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60704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66760" y="1920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12480" y="246888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0" y="2359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 (forecast auto)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12480" y="301752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0" y="29077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multi-filiales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356616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0" y="3456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ouverte partenaires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412480" y="411480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0" y="40050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IFRS &amp; OHADA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12480" y="466344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59" name="Text 57"/>
          <p:cNvSpPr/>
          <p:nvPr/>
        </p:nvSpPr>
        <p:spPr>
          <a:xfrm>
            <a:off x="868680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d'intégrations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12480" y="5212080"/>
            <a:ext cx="182880" cy="182880"/>
          </a:xfrm>
          <a:prstGeom prst="ellipse">
            <a:avLst/>
          </a:prstGeom>
          <a:solidFill>
            <a:srgbClr val="B8963E"/>
          </a:solidFill>
          <a:ln/>
        </p:spPr>
      </p:sp>
      <p:sp>
        <p:nvSpPr>
          <p:cNvPr id="61" name="Text 59"/>
          <p:cNvSpPr/>
          <p:nvPr/>
        </p:nvSpPr>
        <p:spPr>
          <a:xfrm>
            <a:off x="8686800" y="5102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15 pays africains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46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A1A2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4572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Rejoignez l'aventure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9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Jupiter_Plan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équipons les entrepreneurs africains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les meilleurs outils de pilotage financier.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4206240"/>
            <a:ext cx="3200400" cy="594360"/>
          </a:xfrm>
          <a:prstGeom prst="rect">
            <a:avLst>
              <a:gd name="adj" fmla="val 1230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06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Démo live disponible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4206240"/>
            <a:ext cx="3200400" cy="594360"/>
          </a:xfrm>
          <a:prstGeom prst="rect">
            <a:avLst>
              <a:gd name="adj" fmla="val 1230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206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Dossier investisseur complet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4206240"/>
            <a:ext cx="3200400" cy="594360"/>
          </a:xfrm>
          <a:prstGeom prst="rect">
            <a:avLst>
              <a:gd name="adj" fmla="val 1230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206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Ouvert aux partenariats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contact@jupiter-plan.com  ·  www.jupiter-plan.com  ·  Dakar, Sénégal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Jupiter_Plan</dc:creator>
  <cp:lastModifiedBy>Jupiter_Plan</cp:lastModifiedBy>
  <cp:revision>1</cp:revision>
  <dcterms:created xsi:type="dcterms:W3CDTF">2026-03-16T03:05:19Z</dcterms:created>
  <dcterms:modified xsi:type="dcterms:W3CDTF">2026-03-16T03:05:19Z</dcterms:modified>
</cp:coreProperties>
</file>